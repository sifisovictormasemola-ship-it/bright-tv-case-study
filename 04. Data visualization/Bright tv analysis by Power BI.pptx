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5" d="100"/>
          <a:sy n="75" d="100"/>
        </p:scale>
        <p:origin x="58" y="3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7/13/2026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0772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7/13/2026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9507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7/13/2026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07099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7/13/2026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17538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7/13/2026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26316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7/13/2026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447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7/13/2026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3979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7/13/2026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88404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7/13/2026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07556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7/13/2026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91589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7/13/2026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1458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7/13/2026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93006410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1C7EB44-9FA4-32AF-B2B8-4ABDF598B6A7}"/>
              </a:ext>
            </a:extLst>
          </p:cNvPr>
          <p:cNvPicPr>
            <a:picLocks noChangeAspect="1"/>
          </p:cNvPicPr>
          <p:nvPr/>
        </p:nvPicPr>
        <p:blipFill>
          <a:blip r:embed="rId2">
            <a:alphaModFix amt="60000"/>
          </a:blip>
          <a:srcRect t="7040" b="2598"/>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9B38EEC7-1853-F77A-B2CA-0674C3829AF4}"/>
              </a:ext>
            </a:extLst>
          </p:cNvPr>
          <p:cNvSpPr>
            <a:spLocks noGrp="1"/>
          </p:cNvSpPr>
          <p:nvPr>
            <p:ph type="ctrTitle"/>
          </p:nvPr>
        </p:nvSpPr>
        <p:spPr>
          <a:xfrm>
            <a:off x="2301923" y="1482602"/>
            <a:ext cx="7588155" cy="2236264"/>
          </a:xfrm>
        </p:spPr>
        <p:txBody>
          <a:bodyPr>
            <a:normAutofit/>
          </a:bodyPr>
          <a:lstStyle/>
          <a:p>
            <a:r>
              <a:rPr lang="en-ZA" sz="5400">
                <a:solidFill>
                  <a:srgbClr val="FFFFFF"/>
                </a:solidFill>
              </a:rPr>
              <a:t>Bright tv analysis </a:t>
            </a:r>
          </a:p>
        </p:txBody>
      </p:sp>
      <p:sp>
        <p:nvSpPr>
          <p:cNvPr id="3" name="Subtitle 2">
            <a:extLst>
              <a:ext uri="{FF2B5EF4-FFF2-40B4-BE49-F238E27FC236}">
                <a16:creationId xmlns:a16="http://schemas.microsoft.com/office/drawing/2014/main" id="{90F9F07B-5634-3182-EADE-62C27C616B78}"/>
              </a:ext>
            </a:extLst>
          </p:cNvPr>
          <p:cNvSpPr>
            <a:spLocks noGrp="1"/>
          </p:cNvSpPr>
          <p:nvPr>
            <p:ph type="subTitle" idx="1"/>
          </p:nvPr>
        </p:nvSpPr>
        <p:spPr>
          <a:xfrm>
            <a:off x="2301923" y="3793937"/>
            <a:ext cx="7588155" cy="1414091"/>
          </a:xfrm>
        </p:spPr>
        <p:txBody>
          <a:bodyPr>
            <a:normAutofit/>
          </a:bodyPr>
          <a:lstStyle/>
          <a:p>
            <a:r>
              <a:rPr lang="en-ZA" sz="2200">
                <a:solidFill>
                  <a:srgbClr val="FFFFFF"/>
                </a:solidFill>
              </a:rPr>
              <a:t>Power BI visuals</a:t>
            </a:r>
          </a:p>
        </p:txBody>
      </p:sp>
    </p:spTree>
    <p:extLst>
      <p:ext uri="{BB962C8B-B14F-4D97-AF65-F5344CB8AC3E}">
        <p14:creationId xmlns:p14="http://schemas.microsoft.com/office/powerpoint/2010/main" val="373634967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F8BE9A2-8956-141B-BFE6-C607C93D8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57AA75-C241-F090-B5A4-AEA5BB2FD758}"/>
              </a:ext>
            </a:extLst>
          </p:cNvPr>
          <p:cNvSpPr>
            <a:spLocks noGrp="1"/>
          </p:cNvSpPr>
          <p:nvPr>
            <p:ph type="title"/>
          </p:nvPr>
        </p:nvSpPr>
        <p:spPr>
          <a:xfrm>
            <a:off x="321734" y="4837132"/>
            <a:ext cx="4705097" cy="1615684"/>
          </a:xfrm>
        </p:spPr>
        <p:txBody>
          <a:bodyPr vert="horz" lIns="91440" tIns="45720" rIns="91440" bIns="45720" rtlCol="0">
            <a:normAutofit/>
          </a:bodyPr>
          <a:lstStyle/>
          <a:p>
            <a:r>
              <a:rPr lang="en-US" dirty="0"/>
              <a:t>Age groups and Subs by region</a:t>
            </a:r>
          </a:p>
        </p:txBody>
      </p:sp>
      <p:sp>
        <p:nvSpPr>
          <p:cNvPr id="27" name="Content Placeholder 26">
            <a:extLst>
              <a:ext uri="{FF2B5EF4-FFF2-40B4-BE49-F238E27FC236}">
                <a16:creationId xmlns:a16="http://schemas.microsoft.com/office/drawing/2014/main" id="{D5C6B925-493F-8915-66F2-0FD2CE27D40D}"/>
              </a:ext>
            </a:extLst>
          </p:cNvPr>
          <p:cNvSpPr>
            <a:spLocks noGrp="1"/>
          </p:cNvSpPr>
          <p:nvPr>
            <p:ph idx="1"/>
          </p:nvPr>
        </p:nvSpPr>
        <p:spPr>
          <a:xfrm>
            <a:off x="6019333" y="4837132"/>
            <a:ext cx="5753567" cy="1615684"/>
          </a:xfrm>
        </p:spPr>
        <p:txBody>
          <a:bodyPr>
            <a:normAutofit fontScale="85000" lnSpcReduction="10000"/>
          </a:bodyPr>
          <a:lstStyle/>
          <a:p>
            <a:r>
              <a:rPr lang="en-US" sz="1800" dirty="0"/>
              <a:t>There 7 Age groups, 10K Subs and 10 count of regions</a:t>
            </a:r>
          </a:p>
          <a:p>
            <a:r>
              <a:rPr lang="en-US" sz="1800" dirty="0"/>
              <a:t>Slicer for day classification to analyze which day classification has more views.</a:t>
            </a:r>
          </a:p>
          <a:p>
            <a:r>
              <a:rPr lang="en-US" sz="1800" dirty="0"/>
              <a:t>Slicer on gender to analyze which gender views the most between weekdays and weekends.</a:t>
            </a:r>
          </a:p>
        </p:txBody>
      </p:sp>
      <p:pic>
        <p:nvPicPr>
          <p:cNvPr id="6" name="Picture 5">
            <a:extLst>
              <a:ext uri="{FF2B5EF4-FFF2-40B4-BE49-F238E27FC236}">
                <a16:creationId xmlns:a16="http://schemas.microsoft.com/office/drawing/2014/main" id="{57F46395-E3F8-BBA3-CD10-3EBA5AD73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 y="0"/>
            <a:ext cx="12023893" cy="4837132"/>
          </a:xfrm>
          <a:prstGeom prst="rect">
            <a:avLst/>
          </a:prstGeom>
        </p:spPr>
      </p:pic>
    </p:spTree>
    <p:extLst>
      <p:ext uri="{BB962C8B-B14F-4D97-AF65-F5344CB8AC3E}">
        <p14:creationId xmlns:p14="http://schemas.microsoft.com/office/powerpoint/2010/main" val="3090800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4488F-8509-C756-DC17-8A300E27C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EC0083-9CB4-5D1E-DA46-0486C32992C3}"/>
              </a:ext>
            </a:extLst>
          </p:cNvPr>
          <p:cNvSpPr>
            <a:spLocks noGrp="1"/>
          </p:cNvSpPr>
          <p:nvPr>
            <p:ph type="title"/>
          </p:nvPr>
        </p:nvSpPr>
        <p:spPr>
          <a:xfrm>
            <a:off x="321734" y="4837132"/>
            <a:ext cx="4705097" cy="1615684"/>
          </a:xfrm>
        </p:spPr>
        <p:txBody>
          <a:bodyPr vert="horz" lIns="91440" tIns="45720" rIns="91440" bIns="45720" rtlCol="0">
            <a:normAutofit/>
          </a:bodyPr>
          <a:lstStyle/>
          <a:p>
            <a:r>
              <a:rPr lang="en-US" dirty="0"/>
              <a:t>Ethnicity groups and Subs by channel</a:t>
            </a:r>
          </a:p>
        </p:txBody>
      </p:sp>
      <p:sp>
        <p:nvSpPr>
          <p:cNvPr id="27" name="Content Placeholder 26">
            <a:extLst>
              <a:ext uri="{FF2B5EF4-FFF2-40B4-BE49-F238E27FC236}">
                <a16:creationId xmlns:a16="http://schemas.microsoft.com/office/drawing/2014/main" id="{19555324-4DEC-9205-3996-BCAB5DE5578F}"/>
              </a:ext>
            </a:extLst>
          </p:cNvPr>
          <p:cNvSpPr>
            <a:spLocks noGrp="1"/>
          </p:cNvSpPr>
          <p:nvPr>
            <p:ph idx="1"/>
          </p:nvPr>
        </p:nvSpPr>
        <p:spPr>
          <a:xfrm>
            <a:off x="6019333" y="4837132"/>
            <a:ext cx="5753567" cy="1615684"/>
          </a:xfrm>
        </p:spPr>
        <p:txBody>
          <a:bodyPr>
            <a:normAutofit/>
          </a:bodyPr>
          <a:lstStyle/>
          <a:p>
            <a:r>
              <a:rPr lang="en-US" sz="1800" dirty="0"/>
              <a:t>There 5 race groups, 19 channels and 7 count of day names. </a:t>
            </a:r>
          </a:p>
          <a:p>
            <a:r>
              <a:rPr lang="en-US" sz="1800" dirty="0"/>
              <a:t>Slicer on gender to analyze which gender views the most between day names and channels.</a:t>
            </a:r>
          </a:p>
        </p:txBody>
      </p:sp>
      <p:pic>
        <p:nvPicPr>
          <p:cNvPr id="7" name="Picture 6">
            <a:extLst>
              <a:ext uri="{FF2B5EF4-FFF2-40B4-BE49-F238E27FC236}">
                <a16:creationId xmlns:a16="http://schemas.microsoft.com/office/drawing/2014/main" id="{5A55074E-334B-1FC3-F891-602F43FD4B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2081"/>
            <a:ext cx="12192000" cy="4561840"/>
          </a:xfrm>
          <a:prstGeom prst="rect">
            <a:avLst/>
          </a:prstGeom>
        </p:spPr>
      </p:pic>
    </p:spTree>
    <p:extLst>
      <p:ext uri="{BB962C8B-B14F-4D97-AF65-F5344CB8AC3E}">
        <p14:creationId xmlns:p14="http://schemas.microsoft.com/office/powerpoint/2010/main" val="1677758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888D6-30E4-FA30-BD06-FD0AC9C49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020B2-8B36-BC76-81F3-7B1753D559AE}"/>
              </a:ext>
            </a:extLst>
          </p:cNvPr>
          <p:cNvSpPr>
            <a:spLocks noGrp="1"/>
          </p:cNvSpPr>
          <p:nvPr>
            <p:ph type="title"/>
          </p:nvPr>
        </p:nvSpPr>
        <p:spPr>
          <a:xfrm>
            <a:off x="321734" y="4837132"/>
            <a:ext cx="4705097" cy="1615684"/>
          </a:xfrm>
        </p:spPr>
        <p:txBody>
          <a:bodyPr vert="horz" lIns="91440" tIns="45720" rIns="91440" bIns="45720" rtlCol="0">
            <a:normAutofit/>
          </a:bodyPr>
          <a:lstStyle/>
          <a:p>
            <a:r>
              <a:rPr lang="en-US" dirty="0"/>
              <a:t>Subs viewing per day and most viewing gender p/m.</a:t>
            </a:r>
          </a:p>
        </p:txBody>
      </p:sp>
      <p:sp>
        <p:nvSpPr>
          <p:cNvPr id="27" name="Content Placeholder 26">
            <a:extLst>
              <a:ext uri="{FF2B5EF4-FFF2-40B4-BE49-F238E27FC236}">
                <a16:creationId xmlns:a16="http://schemas.microsoft.com/office/drawing/2014/main" id="{1F9F620B-BFDF-8C71-65E4-CDF7D3435C08}"/>
              </a:ext>
            </a:extLst>
          </p:cNvPr>
          <p:cNvSpPr>
            <a:spLocks noGrp="1"/>
          </p:cNvSpPr>
          <p:nvPr>
            <p:ph idx="1"/>
          </p:nvPr>
        </p:nvSpPr>
        <p:spPr>
          <a:xfrm>
            <a:off x="6019333" y="4837132"/>
            <a:ext cx="5753567" cy="1615684"/>
          </a:xfrm>
        </p:spPr>
        <p:txBody>
          <a:bodyPr>
            <a:normAutofit/>
          </a:bodyPr>
          <a:lstStyle/>
          <a:p>
            <a:r>
              <a:rPr lang="en-US" sz="1800" dirty="0"/>
              <a:t>Count of days of month 31 and count of days per week which 7.</a:t>
            </a:r>
          </a:p>
          <a:p>
            <a:r>
              <a:rPr lang="en-US" sz="1800" dirty="0"/>
              <a:t>Month name slicer to analyze zoom in on a number of subscribers per day.</a:t>
            </a:r>
          </a:p>
        </p:txBody>
      </p:sp>
      <p:pic>
        <p:nvPicPr>
          <p:cNvPr id="5" name="Picture 4">
            <a:extLst>
              <a:ext uri="{FF2B5EF4-FFF2-40B4-BE49-F238E27FC236}">
                <a16:creationId xmlns:a16="http://schemas.microsoft.com/office/drawing/2014/main" id="{827F645E-77AA-2F8E-F9B2-0FD7E4699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281"/>
            <a:ext cx="12192000" cy="4531360"/>
          </a:xfrm>
          <a:prstGeom prst="rect">
            <a:avLst/>
          </a:prstGeom>
        </p:spPr>
      </p:pic>
    </p:spTree>
    <p:extLst>
      <p:ext uri="{BB962C8B-B14F-4D97-AF65-F5344CB8AC3E}">
        <p14:creationId xmlns:p14="http://schemas.microsoft.com/office/powerpoint/2010/main" val="2562621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838D4-127E-E23F-FA99-42A8A24BF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5A3A1-7F96-12B5-1F7F-0C1C13794F90}"/>
              </a:ext>
            </a:extLst>
          </p:cNvPr>
          <p:cNvSpPr>
            <a:spLocks noGrp="1"/>
          </p:cNvSpPr>
          <p:nvPr>
            <p:ph type="title"/>
          </p:nvPr>
        </p:nvSpPr>
        <p:spPr>
          <a:xfrm>
            <a:off x="321734" y="4837132"/>
            <a:ext cx="4705097" cy="1615684"/>
          </a:xfrm>
        </p:spPr>
        <p:txBody>
          <a:bodyPr vert="horz" lIns="91440" tIns="45720" rIns="91440" bIns="45720" rtlCol="0">
            <a:normAutofit/>
          </a:bodyPr>
          <a:lstStyle/>
          <a:p>
            <a:r>
              <a:rPr lang="en-US" dirty="0"/>
              <a:t>Subs by time of day and the utilization.</a:t>
            </a:r>
          </a:p>
        </p:txBody>
      </p:sp>
      <p:sp>
        <p:nvSpPr>
          <p:cNvPr id="27" name="Content Placeholder 26">
            <a:extLst>
              <a:ext uri="{FF2B5EF4-FFF2-40B4-BE49-F238E27FC236}">
                <a16:creationId xmlns:a16="http://schemas.microsoft.com/office/drawing/2014/main" id="{88BA684C-7787-FC9D-0B75-F5A992E894B7}"/>
              </a:ext>
            </a:extLst>
          </p:cNvPr>
          <p:cNvSpPr>
            <a:spLocks noGrp="1"/>
          </p:cNvSpPr>
          <p:nvPr>
            <p:ph idx="1"/>
          </p:nvPr>
        </p:nvSpPr>
        <p:spPr>
          <a:xfrm>
            <a:off x="6019333" y="4837132"/>
            <a:ext cx="5753567" cy="1615684"/>
          </a:xfrm>
        </p:spPr>
        <p:txBody>
          <a:bodyPr>
            <a:normAutofit/>
          </a:bodyPr>
          <a:lstStyle/>
          <a:p>
            <a:r>
              <a:rPr lang="en-US" sz="1800" dirty="0"/>
              <a:t>Slicer for age groups to analyze which group views and utilize the most.</a:t>
            </a:r>
          </a:p>
          <a:p>
            <a:r>
              <a:rPr lang="en-US" sz="1800" dirty="0"/>
              <a:t>Slicer on race to analyze which race utilize the tv and on which period of the day.</a:t>
            </a:r>
          </a:p>
        </p:txBody>
      </p:sp>
      <p:pic>
        <p:nvPicPr>
          <p:cNvPr id="5" name="Picture 4">
            <a:extLst>
              <a:ext uri="{FF2B5EF4-FFF2-40B4-BE49-F238E27FC236}">
                <a16:creationId xmlns:a16="http://schemas.microsoft.com/office/drawing/2014/main" id="{5075624A-38A3-8EE3-9DEC-7AB142A08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441"/>
            <a:ext cx="12192000" cy="4673600"/>
          </a:xfrm>
          <a:prstGeom prst="rect">
            <a:avLst/>
          </a:prstGeom>
        </p:spPr>
      </p:pic>
    </p:spTree>
    <p:extLst>
      <p:ext uri="{BB962C8B-B14F-4D97-AF65-F5344CB8AC3E}">
        <p14:creationId xmlns:p14="http://schemas.microsoft.com/office/powerpoint/2010/main" val="171863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0DFA-5E90-4EF6-3E3A-039D7CD2E7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41C9F-2BDC-6850-7A4E-3253A9AADFA5}"/>
              </a:ext>
            </a:extLst>
          </p:cNvPr>
          <p:cNvSpPr>
            <a:spLocks noGrp="1"/>
          </p:cNvSpPr>
          <p:nvPr>
            <p:ph type="title"/>
          </p:nvPr>
        </p:nvSpPr>
        <p:spPr>
          <a:xfrm>
            <a:off x="321734" y="4837132"/>
            <a:ext cx="4705097" cy="1615684"/>
          </a:xfrm>
        </p:spPr>
        <p:txBody>
          <a:bodyPr vert="horz" lIns="91440" tIns="45720" rIns="91440" bIns="45720" rtlCol="0">
            <a:normAutofit/>
          </a:bodyPr>
          <a:lstStyle/>
          <a:p>
            <a:r>
              <a:rPr lang="en-US" dirty="0"/>
              <a:t>Count of duration by hour of the day and gender.</a:t>
            </a:r>
          </a:p>
        </p:txBody>
      </p:sp>
      <p:sp>
        <p:nvSpPr>
          <p:cNvPr id="27" name="Content Placeholder 26">
            <a:extLst>
              <a:ext uri="{FF2B5EF4-FFF2-40B4-BE49-F238E27FC236}">
                <a16:creationId xmlns:a16="http://schemas.microsoft.com/office/drawing/2014/main" id="{59F5BC44-E448-53B7-A14B-196071B0D945}"/>
              </a:ext>
            </a:extLst>
          </p:cNvPr>
          <p:cNvSpPr>
            <a:spLocks noGrp="1"/>
          </p:cNvSpPr>
          <p:nvPr>
            <p:ph idx="1"/>
          </p:nvPr>
        </p:nvSpPr>
        <p:spPr>
          <a:xfrm>
            <a:off x="6019333" y="4837132"/>
            <a:ext cx="5753567" cy="1615684"/>
          </a:xfrm>
        </p:spPr>
        <p:txBody>
          <a:bodyPr>
            <a:normAutofit/>
          </a:bodyPr>
          <a:lstStyle/>
          <a:p>
            <a:r>
              <a:rPr lang="en-US" sz="1800" dirty="0"/>
              <a:t>The slide is to show the peek hour regarding views and by which gender.</a:t>
            </a:r>
          </a:p>
          <a:p>
            <a:r>
              <a:rPr lang="en-US" sz="1800" dirty="0"/>
              <a:t>Slicer for region and age groups to analyze which Province uses the most or </a:t>
            </a:r>
            <a:r>
              <a:rPr lang="en-US" sz="1800"/>
              <a:t>least television.</a:t>
            </a:r>
            <a:endParaRPr lang="en-US" sz="1800" dirty="0"/>
          </a:p>
        </p:txBody>
      </p:sp>
      <p:pic>
        <p:nvPicPr>
          <p:cNvPr id="5" name="Picture 4">
            <a:extLst>
              <a:ext uri="{FF2B5EF4-FFF2-40B4-BE49-F238E27FC236}">
                <a16:creationId xmlns:a16="http://schemas.microsoft.com/office/drawing/2014/main" id="{E40368B0-652A-9CAA-65BB-3C92B1A15F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4837132"/>
          </a:xfrm>
          <a:prstGeom prst="rect">
            <a:avLst/>
          </a:prstGeom>
        </p:spPr>
      </p:pic>
    </p:spTree>
    <p:extLst>
      <p:ext uri="{BB962C8B-B14F-4D97-AF65-F5344CB8AC3E}">
        <p14:creationId xmlns:p14="http://schemas.microsoft.com/office/powerpoint/2010/main" val="1320173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E789B-108D-1381-1926-514F0377891E}"/>
              </a:ext>
            </a:extLst>
          </p:cNvPr>
          <p:cNvSpPr>
            <a:spLocks noGrp="1"/>
          </p:cNvSpPr>
          <p:nvPr>
            <p:ph type="title"/>
          </p:nvPr>
        </p:nvSpPr>
        <p:spPr>
          <a:xfrm>
            <a:off x="7123007" y="603501"/>
            <a:ext cx="4361693" cy="595379"/>
          </a:xfrm>
        </p:spPr>
        <p:txBody>
          <a:bodyPr anchor="b">
            <a:normAutofit/>
          </a:bodyPr>
          <a:lstStyle/>
          <a:p>
            <a:r>
              <a:rPr lang="en-ZA" dirty="0"/>
              <a:t>conclusion</a:t>
            </a:r>
          </a:p>
        </p:txBody>
      </p:sp>
      <p:pic>
        <p:nvPicPr>
          <p:cNvPr id="5" name="Picture 4">
            <a:extLst>
              <a:ext uri="{FF2B5EF4-FFF2-40B4-BE49-F238E27FC236}">
                <a16:creationId xmlns:a16="http://schemas.microsoft.com/office/drawing/2014/main" id="{8BA1FC06-DCE2-99CC-5F23-C4CC5D6D6FCA}"/>
              </a:ext>
            </a:extLst>
          </p:cNvPr>
          <p:cNvPicPr>
            <a:picLocks noChangeAspect="1"/>
          </p:cNvPicPr>
          <p:nvPr/>
        </p:nvPicPr>
        <p:blipFill>
          <a:blip r:embed="rId2"/>
          <a:srcRect l="287" r="37679" b="-1"/>
          <a:stretch>
            <a:fillRect/>
          </a:stretch>
        </p:blipFill>
        <p:spPr>
          <a:xfrm>
            <a:off x="1" y="10"/>
            <a:ext cx="6373368" cy="6857990"/>
          </a:xfrm>
          <a:prstGeom prst="rect">
            <a:avLst/>
          </a:prstGeom>
        </p:spPr>
      </p:pic>
      <p:sp>
        <p:nvSpPr>
          <p:cNvPr id="3" name="Content Placeholder 2">
            <a:extLst>
              <a:ext uri="{FF2B5EF4-FFF2-40B4-BE49-F238E27FC236}">
                <a16:creationId xmlns:a16="http://schemas.microsoft.com/office/drawing/2014/main" id="{E1BC7847-C148-29B1-6E0C-7A38DA1E05D4}"/>
              </a:ext>
            </a:extLst>
          </p:cNvPr>
          <p:cNvSpPr>
            <a:spLocks noGrp="1"/>
          </p:cNvSpPr>
          <p:nvPr>
            <p:ph idx="1"/>
          </p:nvPr>
        </p:nvSpPr>
        <p:spPr>
          <a:xfrm>
            <a:off x="7051041" y="1270000"/>
            <a:ext cx="4433660" cy="5039360"/>
          </a:xfrm>
        </p:spPr>
        <p:txBody>
          <a:bodyPr>
            <a:normAutofit lnSpcReduction="10000"/>
          </a:bodyPr>
          <a:lstStyle/>
          <a:p>
            <a:pPr>
              <a:lnSpc>
                <a:spcPct val="110000"/>
              </a:lnSpc>
            </a:pPr>
            <a:r>
              <a:rPr lang="en-ZA" sz="1400" dirty="0"/>
              <a:t>Based on the attached Bright TV analysis, the Power BI dashboard provides a strong and positive overview of subscriber viewership and engagement patterns.</a:t>
            </a:r>
          </a:p>
          <a:p>
            <a:pPr>
              <a:lnSpc>
                <a:spcPct val="110000"/>
              </a:lnSpc>
            </a:pPr>
            <a:r>
              <a:rPr lang="en-ZA" sz="1400" dirty="0"/>
              <a:t>The analysis demonstrates that Bright TV has a broad and active subscriber base across multiple regions, age groups, genders, and channels. The interactive Power BI visuals successfully highlight key viewing trends, including peak viewing periods, subscriber activity by day and month, content utilization, and demographic preferences. These insights enable a deeper understanding of audience behaviour and support informed decision-making for content planning, marketing strategies, and operational improvements. Overall, the findings indicate healthy viewer engagement and provide a valuable foundation for Bright TV to optimize programming, enhance customer satisfaction, and drive continued growth.</a:t>
            </a:r>
          </a:p>
          <a:p>
            <a:pPr>
              <a:lnSpc>
                <a:spcPct val="110000"/>
              </a:lnSpc>
            </a:pPr>
            <a:endParaRPr lang="en-ZA" sz="1100" dirty="0"/>
          </a:p>
        </p:txBody>
      </p:sp>
    </p:spTree>
    <p:extLst>
      <p:ext uri="{BB962C8B-B14F-4D97-AF65-F5344CB8AC3E}">
        <p14:creationId xmlns:p14="http://schemas.microsoft.com/office/powerpoint/2010/main" val="3785364284"/>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0</TotalTime>
  <Words>348</Words>
  <Application>Microsoft Office PowerPoint</Application>
  <PresentationFormat>Widescreen</PresentationFormat>
  <Paragraphs>21</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Neue Haas Grotesk Text Pro</vt:lpstr>
      <vt:lpstr>VanillaVTI</vt:lpstr>
      <vt:lpstr>Bright tv analysis </vt:lpstr>
      <vt:lpstr>Age groups and Subs by region</vt:lpstr>
      <vt:lpstr>Ethnicity groups and Subs by channel</vt:lpstr>
      <vt:lpstr>Subs viewing per day and most viewing gender p/m.</vt:lpstr>
      <vt:lpstr>Subs by time of day and the utilization.</vt:lpstr>
      <vt:lpstr>Count of duration by hour of the day and gender.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Matshidiso Maila</dc:creator>
  <cp:lastModifiedBy>Matshidiso Maila</cp:lastModifiedBy>
  <cp:revision>6</cp:revision>
  <dcterms:created xsi:type="dcterms:W3CDTF">2026-07-13T12:54:45Z</dcterms:created>
  <dcterms:modified xsi:type="dcterms:W3CDTF">2026-07-13T18:27:51Z</dcterms:modified>
</cp:coreProperties>
</file>